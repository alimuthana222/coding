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MEDICAL SUPPLIES DELIVERY DRONE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F5F5"/>
                </a:solidFill>
              </a:defRPr>
            </a:pPr>
            <a:r>
              <a:t>Revolutionizing Healthcare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B294"/>
                </a:solidFill>
              </a:defRPr>
            </a:pPr>
            <a:r>
              <a:t>2026 • Next-Generation Healthcare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600" b="1">
                <a:solidFill>
                  <a:srgbClr val="00B294"/>
                </a:solidFill>
              </a:defRPr>
            </a:pPr>
            <a:r>
              <a:rPr b="0">
                <a:solidFill>
                  <a:srgbClr val="202124"/>
                </a:solidFill>
              </a:rPr>
              <a:t>Challenge: Traditional medical supply delivery faces delays, accessibility issues, and high costs in remote areas</a:t>
            </a:r>
          </a:p>
          <a:p>
            <a:pPr>
              <a:spcAft>
                <a:spcPts val="1500"/>
              </a:spcAft>
              <a:defRPr sz="1600" b="1">
                <a:solidFill>
                  <a:srgbClr val="00B294"/>
                </a:solidFill>
              </a:defRPr>
            </a:pPr>
            <a:r>
              <a:rPr b="0">
                <a:solidFill>
                  <a:srgbClr val="202124"/>
                </a:solidFill>
              </a:rPr>
              <a:t>Solution: Autonomous drones providing rapid, reliable delivery of critical medical supplies to underserved regions</a:t>
            </a:r>
          </a:p>
          <a:p>
            <a:pPr>
              <a:spcAft>
                <a:spcPts val="1500"/>
              </a:spcAft>
              <a:defRPr sz="1600" b="1">
                <a:solidFill>
                  <a:srgbClr val="00B294"/>
                </a:solidFill>
              </a:defRPr>
            </a:pPr>
            <a:r>
              <a:rPr b="0">
                <a:solidFill>
                  <a:srgbClr val="202124"/>
                </a:solidFill>
              </a:rPr>
              <a:t>Impact: Reduced delivery time from hours to minutes, saving lives in emergency situations</a:t>
            </a:r>
          </a:p>
          <a:p>
            <a:pPr>
              <a:spcAft>
                <a:spcPts val="1500"/>
              </a:spcAft>
              <a:defRPr sz="1600" b="1">
                <a:solidFill>
                  <a:srgbClr val="00B294"/>
                </a:solidFill>
              </a:defRPr>
            </a:pPr>
            <a:r>
              <a:rPr b="0">
                <a:solidFill>
                  <a:srgbClr val="202124"/>
                </a:solidFill>
              </a:rPr>
              <a:t>Technology: AI-powered navigation, temperature-controlled cargo, and real-time tracking systems</a:t>
            </a:r>
          </a:p>
          <a:p>
            <a:pPr>
              <a:spcAft>
                <a:spcPts val="1500"/>
              </a:spcAft>
              <a:defRPr sz="1600" b="1">
                <a:solidFill>
                  <a:srgbClr val="00B294"/>
                </a:solidFill>
              </a:defRPr>
            </a:pPr>
            <a:r>
              <a:rPr b="0">
                <a:solidFill>
                  <a:srgbClr val="202124"/>
                </a:solidFill>
              </a:rPr>
              <a:t>Sustainability: Zero-emission electric propulsion reducing healthcare's carbon footprint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MARKET NEED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02124"/>
                </a:solidFill>
              </a:defRPr>
            </a:pPr>
            <a:r>
              <a:t>• 2 billion people lack access to essential medicines globally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02124"/>
                </a:solidFill>
              </a:defRPr>
            </a:pPr>
            <a:r>
              <a:t>• Remote areas face 3-5 day delays for critical medical supplies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02124"/>
                </a:solidFill>
              </a:defRPr>
            </a:pPr>
            <a:r>
              <a:t>• Emergency medical situations require &lt;30 minute response times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02124"/>
                </a:solidFill>
              </a:defRPr>
            </a:pPr>
            <a:r>
              <a:t>• $8.5 billion annual cost of medical supply chain inefficiencies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02124"/>
                </a:solidFill>
              </a:defRPr>
            </a:pPr>
            <a:r>
              <a:t>• Limited cold-chain infrastructure in developing regions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02124"/>
                </a:solidFill>
              </a:defRPr>
            </a:pPr>
            <a:r>
              <a:t>• Growing demand for contactless delivery post-pandemic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TECHNICAL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Flight Range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100 km (62 miles)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Maximum Speed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120 km/h (75 mph)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Payload Capacity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5 kg (11 lbs)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Flight Time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45 minutes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Operating Altitude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120 m (400 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Temperature Control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-20°C to +8°C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Navigation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GPS + AI Vision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Communication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4G/5G + Satellite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Weather Resistance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IP67 Rated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Battery</a:t>
            </a:r>
          </a:p>
          <a:p>
            <a:pPr>
              <a:spcAft>
                <a:spcPts val="1800"/>
              </a:spcAft>
              <a:defRPr sz="1400">
                <a:solidFill>
                  <a:srgbClr val="202124"/>
                </a:solidFill>
              </a:defRPr>
            </a:pPr>
            <a:r>
              <a:t>Lithium-ion, Quick-charge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🎯 Autonomous Navigation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AI-powered obstacle avoidance and route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1887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❄️ Cold Chain Management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Maintains vaccine and medicine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📡 Real-Time Tracking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Live GPS monitoring and delivery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5603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🔒 Secure Payload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Tamper-proof containers with digital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⚡ Rapid Deployment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Launches within 5 minutes of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3931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🌧️ All-Weather Operation</a:t>
            </a:r>
          </a:p>
          <a:p>
            <a:pPr>
              <a:defRPr sz="1200">
                <a:solidFill>
                  <a:srgbClr val="202124"/>
                </a:solidFill>
              </a:defRPr>
            </a:pPr>
            <a:r>
              <a:t>Operates in rain, wind, and low visibility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USE CASES &amp;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Emergency Medical Response</a:t>
            </a:r>
          </a:p>
          <a:p>
            <a:pPr>
              <a:spcAft>
                <a:spcPts val="1500"/>
              </a:spcAft>
              <a:defRPr sz="1300">
                <a:solidFill>
                  <a:srgbClr val="202124"/>
                </a:solidFill>
              </a:defRPr>
            </a:pPr>
            <a:r>
              <a:t>Deliver life-saving medications, defibrillators, and blood products to accident sites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Rural Healthcare Access</a:t>
            </a:r>
          </a:p>
          <a:p>
            <a:pPr>
              <a:spcAft>
                <a:spcPts val="1500"/>
              </a:spcAft>
              <a:defRPr sz="1300">
                <a:solidFill>
                  <a:srgbClr val="202124"/>
                </a:solidFill>
              </a:defRPr>
            </a:pPr>
            <a:r>
              <a:t>Routine medication delivery to remote villages and underserved communities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Vaccine Distribution</a:t>
            </a:r>
          </a:p>
          <a:p>
            <a:pPr>
              <a:spcAft>
                <a:spcPts val="1500"/>
              </a:spcAft>
              <a:defRPr sz="1300">
                <a:solidFill>
                  <a:srgbClr val="202124"/>
                </a:solidFill>
              </a:defRPr>
            </a:pPr>
            <a:r>
              <a:t>Temperature-controlled vaccine transport for immunization programs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Hospital Network</a:t>
            </a:r>
          </a:p>
          <a:p>
            <a:pPr>
              <a:spcAft>
                <a:spcPts val="1500"/>
              </a:spcAft>
              <a:defRPr sz="1300">
                <a:solidFill>
                  <a:srgbClr val="202124"/>
                </a:solidFill>
              </a:defRPr>
            </a:pPr>
            <a:r>
              <a:t>Inter-facility transfer of lab samples, blood units, and critical supplies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Disaster Relief</a:t>
            </a:r>
          </a:p>
          <a:p>
            <a:pPr>
              <a:spcAft>
                <a:spcPts val="1500"/>
              </a:spcAft>
              <a:defRPr sz="1300">
                <a:solidFill>
                  <a:srgbClr val="202124"/>
                </a:solidFill>
              </a:defRPr>
            </a:pPr>
            <a:r>
              <a:t>Rapid deployment of medical aid in natural disasters and conflict zones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Organ Transport</a:t>
            </a:r>
          </a:p>
          <a:p>
            <a:pPr>
              <a:spcAft>
                <a:spcPts val="1500"/>
              </a:spcAft>
              <a:defRPr sz="1300">
                <a:solidFill>
                  <a:srgbClr val="202124"/>
                </a:solidFill>
              </a:defRPr>
            </a:pPr>
            <a:r>
              <a:t>Time-critical delivery of organs for transplantation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3474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0078D4"/>
                </a:solidFill>
              </a:defRPr>
            </a:pPr>
            <a:r>
              <a:t>Speed</a:t>
            </a:r>
          </a:p>
          <a:p>
            <a:pPr algn="ctr">
              <a:defRPr sz="1600">
                <a:solidFill>
                  <a:srgbClr val="202124"/>
                </a:solidFill>
              </a:defRPr>
            </a:pPr>
            <a:r>
              <a:t>60x faster than ground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371600"/>
            <a:ext cx="3474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00B294"/>
                </a:solidFill>
              </a:defRPr>
            </a:pPr>
            <a:r>
              <a:t>Cost</a:t>
            </a:r>
          </a:p>
          <a:p>
            <a:pPr algn="ctr">
              <a:defRPr sz="1600">
                <a:solidFill>
                  <a:srgbClr val="202124"/>
                </a:solidFill>
              </a:defRPr>
            </a:pPr>
            <a:r>
              <a:t>70% reduction in delivery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3474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0078D4"/>
                </a:solidFill>
              </a:defRPr>
            </a:pPr>
            <a:r>
              <a:t>Reliability</a:t>
            </a:r>
          </a:p>
          <a:p>
            <a:pPr algn="ctr">
              <a:defRPr sz="1600">
                <a:solidFill>
                  <a:srgbClr val="202124"/>
                </a:solidFill>
              </a:defRPr>
            </a:pPr>
            <a:r>
              <a:t>99.5% successful delivery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3840480"/>
            <a:ext cx="3474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000"/>
              </a:spcAft>
              <a:defRPr sz="2400" b="1">
                <a:solidFill>
                  <a:srgbClr val="00B294"/>
                </a:solidFill>
              </a:defRPr>
            </a:pPr>
            <a:r>
              <a:t>Lives Saved</a:t>
            </a:r>
          </a:p>
          <a:p>
            <a:pPr algn="ctr">
              <a:defRPr sz="1600">
                <a:solidFill>
                  <a:srgbClr val="202124"/>
                </a:solidFill>
              </a:defRPr>
            </a:pPr>
            <a:r>
              <a:t>Reduces emergency response time by 80%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SAFETY &amp; REGULATORY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FAA Part 107 and international aviation authority certified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Redundant flight systems with automatic emergency landing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Geofencing to prevent unauthorized zone access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Real-time weather monitoring and route adjustment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Collision avoidance using LIDAR and computer vision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Encrypted communication channels for data security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HIPAA-compliant patient information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202124"/>
                </a:solidFill>
              </a:defRPr>
            </a:pPr>
            <a:r>
              <a:t>✓ Regular maintenance and pre-flight safety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ENVIRONMENTAL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Zero Direct Emissions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100% electric propulsion system with no fossil fuel consumption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Carbon Footprint Reduction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95% lower CO2 emissions compared to traditional vehicle delivery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Renewable Energy Integration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Solar-powered charging stations at deployment hubs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Noise Pollution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Whisper-quiet operation at 60 dB, suitable for residential areas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Sustainable Materials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Recyclable components and biodegradable packaging options</a:t>
            </a:r>
          </a:p>
          <a:p>
            <a:pPr>
              <a:spcAft>
                <a:spcPts val="400"/>
              </a:spcAft>
              <a:defRPr sz="1600" b="1">
                <a:solidFill>
                  <a:srgbClr val="00B294"/>
                </a:solidFill>
              </a:defRPr>
            </a:pPr>
            <a:r>
              <a:t>Resource Efficiency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Optimized routes reduce overall energy consumption by 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Phase 1: Pilot Program</a:t>
            </a:r>
          </a:p>
          <a:p>
            <a:pPr>
              <a:spcAft>
                <a:spcPts val="1400"/>
              </a:spcAft>
              <a:defRPr sz="1200">
                <a:solidFill>
                  <a:srgbClr val="202124"/>
                </a:solidFill>
              </a:defRPr>
            </a:pPr>
            <a:r>
              <a:t>• Initial deployment in 3 test regions</a:t>
            </a:r>
            <a:br/>
            <a:r>
              <a:t>• 50 drones serving 100,000 people</a:t>
            </a:r>
            <a:br/>
            <a:r>
              <a:t>• Data collection and system optimization</a:t>
            </a:r>
          </a:p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Phase 2: Regional Expansion</a:t>
            </a:r>
          </a:p>
          <a:p>
            <a:pPr>
              <a:spcAft>
                <a:spcPts val="1400"/>
              </a:spcAft>
              <a:defRPr sz="1200">
                <a:solidFill>
                  <a:srgbClr val="202124"/>
                </a:solidFill>
              </a:defRPr>
            </a:pPr>
            <a:r>
              <a:t>• Scale to 10 regions across multiple countries</a:t>
            </a:r>
            <a:br/>
            <a:r>
              <a:t>• Fleet expansion to 500 drones</a:t>
            </a:r>
            <a:br/>
            <a:r>
              <a:t>• Partnership with healthcare providers</a:t>
            </a:r>
          </a:p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Phase 3: National Coverage</a:t>
            </a:r>
          </a:p>
          <a:p>
            <a:pPr>
              <a:spcAft>
                <a:spcPts val="1400"/>
              </a:spcAft>
              <a:defRPr sz="1200">
                <a:solidFill>
                  <a:srgbClr val="202124"/>
                </a:solidFill>
              </a:defRPr>
            </a:pPr>
            <a:r>
              <a:t>• Nationwide rollout in partner countries</a:t>
            </a:r>
            <a:br/>
            <a:r>
              <a:t>• 5,000 drones in operation</a:t>
            </a:r>
            <a:br/>
            <a:r>
              <a:t>• Integration with national health systems</a:t>
            </a:r>
          </a:p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Phase 4: Global Network</a:t>
            </a:r>
          </a:p>
          <a:p>
            <a:pPr>
              <a:spcAft>
                <a:spcPts val="1400"/>
              </a:spcAft>
              <a:defRPr sz="1200">
                <a:solidFill>
                  <a:srgbClr val="202124"/>
                </a:solidFill>
              </a:defRPr>
            </a:pPr>
            <a:r>
              <a:t>• International operations in 50+ countries</a:t>
            </a:r>
            <a:br/>
            <a:r>
              <a:t>• 50,000+ drones worldwide</a:t>
            </a:r>
            <a:br/>
            <a:r>
              <a:t>• Full automation and AI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078D4"/>
                </a:solidFill>
              </a:defRPr>
            </a:pPr>
            <a:r>
              <a:t>Cost Structure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Initial Investment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$2.5M per deployment hub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Drone Unit Cost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$25,000 per unit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Operating Cost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$0.50 per delivery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Maintenance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$500/month per drone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Insurance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$1,000/year per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0078D4"/>
                </a:solidFill>
              </a:defRPr>
            </a:pPr>
            <a:r>
              <a:t>Revenue Model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Per Delivery Fee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$15-25 per delivery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Subscription Model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$500/month for hospitals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Government Contracts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$5M annual programs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Break-even Point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18 months</a:t>
            </a:r>
          </a:p>
          <a:p>
            <a:pPr>
              <a:spcAft>
                <a:spcPts val="300"/>
              </a:spcAft>
              <a:defRPr sz="1400" b="1">
                <a:solidFill>
                  <a:srgbClr val="202124"/>
                </a:solidFill>
              </a:defRPr>
            </a:pPr>
            <a:r>
              <a:t>ROI</a:t>
            </a:r>
          </a:p>
          <a:p>
            <a:pPr>
              <a:spcAft>
                <a:spcPts val="1200"/>
              </a:spcAft>
              <a:defRPr sz="1300">
                <a:solidFill>
                  <a:srgbClr val="00B294"/>
                </a:solidFill>
              </a:defRPr>
            </a:pPr>
            <a:r>
              <a:t>300% over 5 years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Advanced AI Navigation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Proprietary machine learning algorithms for optimal route planning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Medical-Grade Certification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Only drone system certified for pharmaceutical transport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Temperature Precision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±0.5°C accuracy in cold-chain management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Extended Range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2x the range of competing systems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Rapid Deployment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5-minute launch vs. 30-minute industry average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Healthcare Integration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Seamless EMR and hospital system connectivity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Proven Track Record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10,000+ successful medical deliveries completed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Strategic Partnerships</a:t>
            </a:r>
          </a:p>
          <a:p>
            <a:pPr>
              <a:spcAft>
                <a:spcPts val="1200"/>
              </a:spcAft>
              <a:defRPr sz="1300">
                <a:solidFill>
                  <a:srgbClr val="202124"/>
                </a:solidFill>
              </a:defRPr>
            </a:pPr>
            <a:r>
              <a:t>Collaborations with WHO, Red Cross, and major hospitals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Rural Rwanda Vaccine Program</a:t>
            </a:r>
          </a:p>
          <a:p>
            <a:pPr>
              <a:spcAft>
                <a:spcPts val="1600"/>
              </a:spcAft>
              <a:defRPr sz="1300">
                <a:solidFill>
                  <a:srgbClr val="202124"/>
                </a:solidFill>
              </a:defRPr>
            </a:pPr>
            <a:r>
              <a:t>Delivered 15,000 vaccine doses to 50+ remote health centers, achieving 98% immunization coverage in previously underserved areas.</a:t>
            </a:r>
          </a:p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Hurricane Response - Caribbean</a:t>
            </a:r>
          </a:p>
          <a:p>
            <a:pPr>
              <a:spcAft>
                <a:spcPts val="1600"/>
              </a:spcAft>
              <a:defRPr sz="1300">
                <a:solidFill>
                  <a:srgbClr val="202124"/>
                </a:solidFill>
              </a:defRPr>
            </a:pPr>
            <a:r>
              <a:t>Provided critical medical supplies to 5,000 isolated residents within 48 hours of disaster, when roads were impassable.</a:t>
            </a:r>
          </a:p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Remote Island Healthcare - Pacific</a:t>
            </a:r>
          </a:p>
          <a:p>
            <a:pPr>
              <a:spcAft>
                <a:spcPts val="1600"/>
              </a:spcAft>
              <a:defRPr sz="1300">
                <a:solidFill>
                  <a:srgbClr val="202124"/>
                </a:solidFill>
              </a:defRPr>
            </a:pPr>
            <a:r>
              <a:t>Established reliable medication delivery to 20 island communities, reducing patient wait times from weeks to hours.</a:t>
            </a:r>
          </a:p>
          <a:p>
            <a:pPr>
              <a:spcAft>
                <a:spcPts val="600"/>
              </a:spcAft>
              <a:defRPr sz="1600" b="1">
                <a:solidFill>
                  <a:srgbClr val="0078D4"/>
                </a:solidFill>
              </a:defRPr>
            </a:pPr>
            <a:r>
              <a:t>Urban Emergency Services - Europe</a:t>
            </a:r>
          </a:p>
          <a:p>
            <a:pPr>
              <a:spcAft>
                <a:spcPts val="1600"/>
              </a:spcAft>
              <a:defRPr sz="1300">
                <a:solidFill>
                  <a:srgbClr val="202124"/>
                </a:solidFill>
              </a:defRPr>
            </a:pPr>
            <a:r>
              <a:t>Delivered defibrillators to cardiac emergency sites, contributing to 40% increase in survival rates.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FUTURE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AI-Powered Predictive Analytics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Forecast medical supply needs before shortages occur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Swarm Technology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Coordinate multiple drones for mass vaccination campaigns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Extended Range Models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300km range for international cross-border deliveries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Vertical Take-off &amp; Landing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Hospital rooftop integration without landing pads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Autonomous Maintenance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Self-diagnosing systems with predictive repair scheduling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5G/6G Integration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Ultra-low latency control and high-definition monitoring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Hydrogen Fuel Cells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Extended flight time up to 4 hours per mission</a:t>
            </a:r>
          </a:p>
          <a:p>
            <a:pPr>
              <a:spcAft>
                <a:spcPts val="400"/>
              </a:spcAft>
              <a:defRPr sz="1500" b="1">
                <a:solidFill>
                  <a:srgbClr val="00B294"/>
                </a:solidFill>
              </a:defRPr>
            </a:pPr>
            <a:r>
              <a:t>→ Modular Payload Systems</a:t>
            </a:r>
          </a:p>
          <a:p>
            <a:pPr>
              <a:spcAft>
                <a:spcPts val="1000"/>
              </a:spcAft>
              <a:defRPr sz="1200">
                <a:solidFill>
                  <a:srgbClr val="202124"/>
                </a:solidFill>
              </a:defRPr>
            </a:pPr>
            <a:r>
              <a:t>   Configurable cargo bays for various medical equipment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2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JOIN THE REVOLUTION IN HEALTHCARE 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  <a:defRPr sz="2400">
                <a:solidFill>
                  <a:srgbClr val="FFFFFF"/>
                </a:solidFill>
              </a:defRPr>
            </a:pPr>
            <a:r>
              <a:t>Together, we can save lives and transform healthcare access</a:t>
            </a:r>
          </a:p>
          <a:p>
            <a:r>
              <a:t>for millions of people worldwide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Contact: healthcare@dronesolutions.com | www.medicaldrones.com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